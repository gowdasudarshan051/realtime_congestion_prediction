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296" r:id="rId5"/>
    <p:sldId id="277" r:id="rId6"/>
    <p:sldId id="262" r:id="rId7"/>
    <p:sldId id="289" r:id="rId8"/>
    <p:sldId id="297" r:id="rId9"/>
    <p:sldId id="266" r:id="rId10"/>
    <p:sldId id="293" r:id="rId11"/>
    <p:sldId id="306" r:id="rId12"/>
    <p:sldId id="307" r:id="rId13"/>
    <p:sldId id="308" r:id="rId14"/>
    <p:sldId id="309" r:id="rId15"/>
    <p:sldId id="310" r:id="rId16"/>
    <p:sldId id="304"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8" d="100"/>
          <a:sy n="78" d="100"/>
        </p:scale>
        <p:origin x="878"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701"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1.png">
            <a:extLst>
              <a:ext uri="{FF2B5EF4-FFF2-40B4-BE49-F238E27FC236}">
                <a16:creationId xmlns:a16="http://schemas.microsoft.com/office/drawing/2014/main" id="{EBE8A304-591C-30E6-2E6D-68F1BFCE6A62}"/>
              </a:ext>
            </a:extLst>
          </p:cNvPr>
          <p:cNvPicPr/>
          <p:nvPr/>
        </p:nvPicPr>
        <p:blipFill>
          <a:blip r:embed="rId2"/>
          <a:srcRect/>
          <a:stretch>
            <a:fillRect/>
          </a:stretch>
        </p:blipFill>
        <p:spPr>
          <a:xfrm>
            <a:off x="2064774" y="550465"/>
            <a:ext cx="8384060" cy="1366826"/>
          </a:xfrm>
          <a:prstGeom prst="rect">
            <a:avLst/>
          </a:prstGeom>
          <a:ln/>
        </p:spPr>
      </p:pic>
      <p:sp>
        <p:nvSpPr>
          <p:cNvPr id="15" name="Title 1">
            <a:extLst>
              <a:ext uri="{FF2B5EF4-FFF2-40B4-BE49-F238E27FC236}">
                <a16:creationId xmlns:a16="http://schemas.microsoft.com/office/drawing/2014/main" id="{32957237-A9A1-34C9-97E7-E00B89448466}"/>
              </a:ext>
            </a:extLst>
          </p:cNvPr>
          <p:cNvSpPr txBox="1">
            <a:spLocks/>
          </p:cNvSpPr>
          <p:nvPr/>
        </p:nvSpPr>
        <p:spPr>
          <a:xfrm>
            <a:off x="1027187" y="2868647"/>
            <a:ext cx="10895695" cy="83910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pPr algn="ctr"/>
            <a:r>
              <a:rPr lang="en-US" sz="1800" b="1" dirty="0">
                <a:latin typeface="Times New Roman" panose="02020603050405020304" pitchFamily="18" charset="0"/>
                <a:cs typeface="Times New Roman" panose="02020603050405020304" pitchFamily="18" charset="0"/>
              </a:rPr>
              <a:t>AI-Powered Real-Time Urban Traffic Congestion Prediction Using Distributed Big Data Processing</a:t>
            </a:r>
          </a:p>
        </p:txBody>
      </p:sp>
      <p:sp>
        <p:nvSpPr>
          <p:cNvPr id="17" name="Subtitle 2">
            <a:extLst>
              <a:ext uri="{FF2B5EF4-FFF2-40B4-BE49-F238E27FC236}">
                <a16:creationId xmlns:a16="http://schemas.microsoft.com/office/drawing/2014/main" id="{8656ADF7-DF50-8BAC-4E0C-FB6B468D3A64}"/>
              </a:ext>
            </a:extLst>
          </p:cNvPr>
          <p:cNvSpPr txBox="1">
            <a:spLocks/>
          </p:cNvSpPr>
          <p:nvPr/>
        </p:nvSpPr>
        <p:spPr>
          <a:xfrm>
            <a:off x="889535" y="3939458"/>
            <a:ext cx="3252550" cy="207170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000" b="1" dirty="0">
                <a:solidFill>
                  <a:schemeClr val="tx1"/>
                </a:solidFill>
                <a:latin typeface="Times New Roman" panose="02020603050405020304" pitchFamily="18" charset="0"/>
                <a:cs typeface="Times New Roman" pitchFamily="18" charset="0"/>
              </a:rPr>
              <a:t>Project Team – Group 01</a:t>
            </a:r>
          </a:p>
          <a:p>
            <a:pPr marL="0" indent="0" algn="ctr">
              <a:buNone/>
            </a:pPr>
            <a:endParaRPr lang="en-IN" sz="2000" b="1" dirty="0">
              <a:solidFill>
                <a:schemeClr val="tx1"/>
              </a:solidFill>
              <a:latin typeface="Times New Roman" panose="02020603050405020304" pitchFamily="18" charset="0"/>
              <a:cs typeface="Times New Roman" pitchFamily="18" charset="0"/>
            </a:endParaRPr>
          </a:p>
          <a:p>
            <a:pPr marL="0" indent="0" algn="ctr">
              <a:buNone/>
            </a:pPr>
            <a:r>
              <a:rPr lang="en-IN" sz="1400" b="1" dirty="0">
                <a:latin typeface="Times New Roman" panose="02020603050405020304" pitchFamily="18" charset="0"/>
                <a:cs typeface="Times New Roman" panose="02020603050405020304" pitchFamily="18" charset="0"/>
              </a:rPr>
              <a:t>ADARSHA G C (1DB22CS003) </a:t>
            </a:r>
          </a:p>
          <a:p>
            <a:pPr marL="0" indent="0" algn="ctr">
              <a:buNone/>
            </a:pPr>
            <a:r>
              <a:rPr lang="en-IN" sz="1400" b="1" dirty="0">
                <a:latin typeface="Times New Roman" panose="02020603050405020304" pitchFamily="18" charset="0"/>
                <a:cs typeface="Times New Roman" panose="02020603050405020304" pitchFamily="18" charset="0"/>
              </a:rPr>
              <a:t>DINESH S (1DB22CS040) </a:t>
            </a:r>
          </a:p>
          <a:p>
            <a:pPr marL="0" indent="0" algn="ctr">
              <a:buNone/>
            </a:pPr>
            <a:r>
              <a:rPr lang="en-IN" sz="1400" b="1" dirty="0">
                <a:latin typeface="Times New Roman" panose="02020603050405020304" pitchFamily="18" charset="0"/>
                <a:cs typeface="Times New Roman" panose="02020603050405020304" pitchFamily="18" charset="0"/>
              </a:rPr>
              <a:t>SANKETH N (1DB22CS193) </a:t>
            </a:r>
          </a:p>
          <a:p>
            <a:pPr marL="0" indent="0" algn="ctr">
              <a:buNone/>
            </a:pPr>
            <a:r>
              <a:rPr lang="en-IN" sz="1400" b="1" dirty="0">
                <a:latin typeface="Times New Roman" panose="02020603050405020304" pitchFamily="18" charset="0"/>
                <a:cs typeface="Times New Roman" panose="02020603050405020304" pitchFamily="18" charset="0"/>
              </a:rPr>
              <a:t>SUDHARSHAN (1DB23CS415) </a:t>
            </a:r>
            <a:endParaRPr lang="en-IN" sz="1400" b="1" dirty="0">
              <a:solidFill>
                <a:schemeClr val="tx1"/>
              </a:solidFill>
              <a:latin typeface="Times New Roman" panose="02020603050405020304" pitchFamily="18" charset="0"/>
              <a:cs typeface="Times New Roman" pitchFamily="18" charset="0"/>
            </a:endParaRPr>
          </a:p>
        </p:txBody>
      </p:sp>
      <p:sp>
        <p:nvSpPr>
          <p:cNvPr id="2" name="Rectangle 1">
            <a:extLst>
              <a:ext uri="{FF2B5EF4-FFF2-40B4-BE49-F238E27FC236}">
                <a16:creationId xmlns:a16="http://schemas.microsoft.com/office/drawing/2014/main" id="{A4289316-45A4-CF49-322E-F050D0788E5F}"/>
              </a:ext>
            </a:extLst>
          </p:cNvPr>
          <p:cNvSpPr/>
          <p:nvPr/>
        </p:nvSpPr>
        <p:spPr>
          <a:xfrm>
            <a:off x="1988315" y="2079437"/>
            <a:ext cx="8215370" cy="83099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dirty="0">
                <a:latin typeface="Times New Roman" panose="02020603050405020304" pitchFamily="18" charset="0"/>
                <a:cs typeface="Times New Roman" panose="02020603050405020304" pitchFamily="18" charset="0"/>
              </a:rPr>
              <a:t>Project Presentation Phase II </a:t>
            </a:r>
          </a:p>
          <a:p>
            <a:pPr algn="ctr"/>
            <a:r>
              <a:rPr lang="en-IN" sz="2400" b="1">
                <a:latin typeface="Times New Roman" panose="02020603050405020304" pitchFamily="18" charset="0"/>
                <a:cs typeface="Times New Roman" panose="02020603050405020304" pitchFamily="18" charset="0"/>
              </a:rPr>
              <a:t>Review 2</a:t>
            </a: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AFC9D44-CB48-54C9-E0E3-E4FB2D85B4D9}"/>
              </a:ext>
            </a:extLst>
          </p:cNvPr>
          <p:cNvSpPr txBox="1"/>
          <p:nvPr/>
        </p:nvSpPr>
        <p:spPr>
          <a:xfrm>
            <a:off x="8049917" y="4258560"/>
            <a:ext cx="3286148" cy="1752600"/>
          </a:xfrm>
          <a:prstGeom prst="rect">
            <a:avLst/>
          </a:prstGeom>
        </p:spPr>
        <p:txBody>
          <a:bodyPr vert="horz" lIns="91440" tIns="45720" rIns="91440" bIns="45720" rtlCol="0">
            <a:normAutofit fontScale="9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20000"/>
              </a:spcBef>
            </a:pPr>
            <a:r>
              <a:rPr lang="en-IN" b="1" dirty="0">
                <a:latin typeface="Times New Roman" panose="02020603050405020304" pitchFamily="18" charset="0"/>
                <a:cs typeface="Times New Roman" panose="02020603050405020304" pitchFamily="18" charset="0"/>
              </a:rPr>
              <a:t>Guided By:</a:t>
            </a:r>
          </a:p>
          <a:p>
            <a:pPr lvl="0" algn="ctr">
              <a:spcBef>
                <a:spcPct val="20000"/>
              </a:spcBef>
            </a:pPr>
            <a:endParaRPr lang="en-IN"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Dr K B SHIVA KUMAR</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BE, ME, MBA, MPhil, PhD</a:t>
            </a:r>
            <a:endParaRPr lang="en-IN"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                                                                Professor and Head</a:t>
            </a: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Dept of CSE</a:t>
            </a:r>
          </a:p>
        </p:txBody>
      </p:sp>
    </p:spTree>
    <p:extLst>
      <p:ext uri="{BB962C8B-B14F-4D97-AF65-F5344CB8AC3E}">
        <p14:creationId xmlns:p14="http://schemas.microsoft.com/office/powerpoint/2010/main" val="2901654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919411" y="884903"/>
            <a:ext cx="2402759" cy="654860"/>
          </a:xfrm>
        </p:spPr>
        <p:txBody>
          <a:bodyPr>
            <a:normAutofit/>
          </a:bodyPr>
          <a:lstStyle/>
          <a:p>
            <a:r>
              <a:rPr lang="en-IN" sz="3600" dirty="0">
                <a:latin typeface="Times New Roman" pitchFamily="18" charset="0"/>
                <a:cs typeface="Times New Roman" pitchFamily="18" charset="0"/>
              </a:rPr>
              <a:t>Agenda</a:t>
            </a:r>
            <a:endParaRPr lang="en-US" sz="3600"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11444748" y="6468499"/>
            <a:ext cx="595005" cy="389501"/>
          </a:xfrm>
        </p:spPr>
        <p:txBody>
          <a:bodyPr/>
          <a:lstStyle/>
          <a:p>
            <a:fld id="{19B51A1E-902D-48AF-9020-955120F399B6}" type="slidenum">
              <a:rPr lang="en-US" smtClean="0"/>
              <a:pPr/>
              <a:t>2</a:t>
            </a:fld>
            <a:endParaRPr lang="en-US" dirty="0"/>
          </a:p>
        </p:txBody>
      </p:sp>
      <p:sp>
        <p:nvSpPr>
          <p:cNvPr id="7" name="Content Placeholder 2">
            <a:extLst>
              <a:ext uri="{FF2B5EF4-FFF2-40B4-BE49-F238E27FC236}">
                <a16:creationId xmlns:a16="http://schemas.microsoft.com/office/drawing/2014/main" id="{ABE37E3C-FC33-DBE9-C004-80089A905773}"/>
              </a:ext>
            </a:extLst>
          </p:cNvPr>
          <p:cNvSpPr>
            <a:spLocks noGrp="1"/>
          </p:cNvSpPr>
          <p:nvPr>
            <p:ph idx="1"/>
          </p:nvPr>
        </p:nvSpPr>
        <p:spPr>
          <a:xfrm>
            <a:off x="457200" y="1600200"/>
            <a:ext cx="8229600" cy="4829196"/>
          </a:xfrm>
        </p:spPr>
        <p:txBody>
          <a:bodyPr>
            <a:normAutofit fontScale="85000" lnSpcReduction="20000"/>
          </a:bodyPr>
          <a:lstStyle/>
          <a:p>
            <a:pPr>
              <a:lnSpc>
                <a:spcPct val="150000"/>
              </a:lnSpc>
              <a:buFont typeface="Wingdings" panose="05000000000000000000" pitchFamily="2" charset="2"/>
              <a:buChar char="Ø"/>
            </a:pPr>
            <a:r>
              <a:rPr lang="en-IN" sz="2400" dirty="0">
                <a:latin typeface="Times New Roman" pitchFamily="18" charset="0"/>
                <a:cs typeface="Times New Roman" pitchFamily="18" charset="0"/>
              </a:rPr>
              <a:t>Introduction</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Problem Statement</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Aim and Objective of the Project</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Literature Survey</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System Analysis and Design</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Implementation and Testing</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Result and discussion</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Conclusion and Future scope</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References</a:t>
            </a:r>
          </a:p>
          <a:p>
            <a:endParaRPr lang="en-IN"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026152" y="680579"/>
            <a:ext cx="10139696" cy="5321810"/>
          </a:xfrm>
        </p:spPr>
        <p:txBody>
          <a:bodyPr>
            <a:normAutofit/>
          </a:bodyPr>
          <a:lstStyle/>
          <a:p>
            <a:pPr indent="457200" algn="ctr">
              <a:lnSpc>
                <a:spcPct val="115000"/>
              </a:lnSpc>
              <a:spcAft>
                <a:spcPts val="100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Introduction</a:t>
            </a:r>
            <a:br>
              <a:rPr lang="en-IN" sz="2400" b="1" dirty="0">
                <a:effectLst/>
                <a:latin typeface="Times New Roman" panose="02020603050405020304" pitchFamily="18"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Smart cities aim to enhance the quality of life by integrating advanced technologies into urban infrastructure. Among the many challenges faced in this domain, traffic congestion remains a primary concern. Rapid urbanization and increasing vehicular load strain existing road networks, leading to extended travel times, environmental degradation, and economic loss. Traditional prediction models often fall short due to their limited scope and inability to incorporate diverse data types. To address this, our project introduces a novel predictive framework that utilizes data from various sources including GPS devices, weather APIs, and mapping services processed through a hybrid deep learning approach. This method enables accurate and timely forecasting of traffic congestion, contributing to more efficient urban mobility solutions.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Placeholder 34">
            <a:extLst>
              <a:ext uri="{FF2B5EF4-FFF2-40B4-BE49-F238E27FC236}">
                <a16:creationId xmlns:a16="http://schemas.microsoft.com/office/drawing/2014/main" id="{BD9AE75B-EE3A-3312-4D5D-C33DD7B9DCB3}"/>
              </a:ext>
            </a:extLst>
          </p:cNvPr>
          <p:cNvSpPr>
            <a:spLocks noGrp="1"/>
          </p:cNvSpPr>
          <p:nvPr>
            <p:ph type="body" sz="quarter" idx="13"/>
          </p:nvPr>
        </p:nvSpPr>
        <p:spPr>
          <a:xfrm>
            <a:off x="3146322" y="1569964"/>
            <a:ext cx="8464774" cy="4565365"/>
          </a:xfrm>
        </p:spPr>
        <p:txBody>
          <a:bodyPr>
            <a:normAutofit/>
          </a:bodyPr>
          <a:lstStyle/>
          <a:p>
            <a:pPr indent="457200" algn="ctr">
              <a:lnSpc>
                <a:spcPct val="115000"/>
              </a:lnSpc>
              <a:spcAft>
                <a:spcPts val="100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PROBLEM STATEMENT</a:t>
            </a:r>
          </a:p>
          <a:p>
            <a:pPr algn="just">
              <a:lnSpc>
                <a:spcPct val="150000"/>
              </a:lnSpc>
              <a:spcBef>
                <a:spcPts val="1000"/>
              </a:spcBef>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Urban areas are experiencing heightened traffic congestion, which leads to significant delays, resource wastage, and economic drawbacks. Predicting traffic patterns is complicated by the dynamic and multifaceted nature of contributing factors such as weather, road conditions, time of day, and vehicular flow. There is a pressing need for a robust, scalable, and intelligent traffic forecasting system that can accommodate the spatial-temporal complexities of urban transport networks.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844941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7560-BA0D-1795-FEF5-33EA4AE27506}"/>
              </a:ext>
            </a:extLst>
          </p:cNvPr>
          <p:cNvSpPr>
            <a:spLocks noGrp="1"/>
          </p:cNvSpPr>
          <p:nvPr>
            <p:ph type="title"/>
          </p:nvPr>
        </p:nvSpPr>
        <p:spPr>
          <a:xfrm>
            <a:off x="670834" y="1145931"/>
            <a:ext cx="5267850" cy="4964613"/>
          </a:xfrm>
        </p:spPr>
        <p:txBody>
          <a:bodyPr>
            <a:normAutofit/>
          </a:bodyPr>
          <a:lstStyle/>
          <a:p>
            <a:pPr>
              <a:lnSpc>
                <a:spcPct val="100000"/>
              </a:lnSpc>
            </a:pPr>
            <a:r>
              <a:rPr lang="en-US" sz="2400" cap="none" dirty="0">
                <a:latin typeface="Times New Roman" panose="02020603050405020304" pitchFamily="18" charset="0"/>
                <a:cs typeface="Times New Roman" panose="02020603050405020304" pitchFamily="18" charset="0"/>
              </a:rPr>
              <a:t>AIM</a:t>
            </a:r>
            <a:br>
              <a:rPr lang="en-US" sz="2000" b="1" cap="none" dirty="0">
                <a:latin typeface="Times New Roman" panose="02020603050405020304" pitchFamily="18" charset="0"/>
                <a:cs typeface="Times New Roman" panose="02020603050405020304" pitchFamily="18" charset="0"/>
              </a:rPr>
            </a:br>
            <a:br>
              <a:rPr lang="en-US" sz="2000" cap="none" dirty="0">
                <a:latin typeface="Times New Roman" panose="02020603050405020304" pitchFamily="18" charset="0"/>
                <a:cs typeface="Times New Roman" panose="02020603050405020304" pitchFamily="18" charset="0"/>
              </a:rPr>
            </a:br>
            <a:r>
              <a:rPr lang="en-US" sz="1700" cap="none" dirty="0">
                <a:latin typeface="Times New Roman" panose="02020603050405020304" pitchFamily="18" charset="0"/>
                <a:cs typeface="Times New Roman" panose="02020603050405020304" pitchFamily="18" charset="0"/>
              </a:rPr>
              <a:t>To develop a robust, scalable, and intelligent traffic forecasting system capable of integrating and processing data from multiple heterogeneous sources, effectively addressing the spatial-temporal complexities of urban transport networks. </a:t>
            </a:r>
            <a:br>
              <a:rPr lang="en-US" sz="1700" cap="none" dirty="0">
                <a:latin typeface="Times New Roman" panose="02020603050405020304" pitchFamily="18" charset="0"/>
                <a:cs typeface="Times New Roman" panose="02020603050405020304" pitchFamily="18" charset="0"/>
              </a:rPr>
            </a:br>
            <a:br>
              <a:rPr lang="en-US" sz="1700" cap="none" dirty="0">
                <a:latin typeface="Times New Roman" panose="02020603050405020304" pitchFamily="18" charset="0"/>
                <a:cs typeface="Times New Roman" panose="02020603050405020304" pitchFamily="18" charset="0"/>
              </a:rPr>
            </a:br>
            <a:r>
              <a:rPr lang="en-US" sz="1700" cap="none" dirty="0">
                <a:latin typeface="Times New Roman" panose="02020603050405020304" pitchFamily="18" charset="0"/>
                <a:cs typeface="Times New Roman" panose="02020603050405020304" pitchFamily="18" charset="0"/>
              </a:rPr>
              <a:t>The system should leverage advanced machine learning techniques and real-time data analytics to enhance the accuracy of traffic predictions, optimize vehicular flow, minimize congestion-related delays, and improve overall urban mobility and resource efficiency.</a:t>
            </a:r>
            <a:br>
              <a:rPr lang="en-US" sz="1700" cap="none" dirty="0">
                <a:latin typeface="Times New Roman" panose="02020603050405020304" pitchFamily="18" charset="0"/>
                <a:cs typeface="Times New Roman" panose="02020603050405020304" pitchFamily="18" charset="0"/>
              </a:rPr>
            </a:br>
            <a:endParaRPr lang="en-IN" sz="1700" dirty="0"/>
          </a:p>
        </p:txBody>
      </p:sp>
      <p:sp>
        <p:nvSpPr>
          <p:cNvPr id="13" name="Slide Number Placeholder 12">
            <a:extLst>
              <a:ext uri="{FF2B5EF4-FFF2-40B4-BE49-F238E27FC236}">
                <a16:creationId xmlns:a16="http://schemas.microsoft.com/office/drawing/2014/main" id="{921F7AD7-0BC7-9DF3-E8E6-4E72EE85D84A}"/>
              </a:ext>
            </a:extLst>
          </p:cNvPr>
          <p:cNvSpPr>
            <a:spLocks noGrp="1"/>
          </p:cNvSpPr>
          <p:nvPr>
            <p:ph type="sldNum" sz="quarter" idx="22"/>
          </p:nvPr>
        </p:nvSpPr>
        <p:spPr/>
        <p:txBody>
          <a:bodyPr/>
          <a:lstStyle/>
          <a:p>
            <a:fld id="{B5CEABB6-07DC-46E8-9B57-56EC44A396E5}" type="slidenum">
              <a:rPr lang="en-US" smtClean="0"/>
              <a:t>5</a:t>
            </a:fld>
            <a:endParaRPr lang="en-US" dirty="0"/>
          </a:p>
        </p:txBody>
      </p:sp>
      <p:sp>
        <p:nvSpPr>
          <p:cNvPr id="3" name="Title 1">
            <a:extLst>
              <a:ext uri="{FF2B5EF4-FFF2-40B4-BE49-F238E27FC236}">
                <a16:creationId xmlns:a16="http://schemas.microsoft.com/office/drawing/2014/main" id="{537E1C88-627C-4655-A4FB-0BB02EDB078A}"/>
              </a:ext>
            </a:extLst>
          </p:cNvPr>
          <p:cNvSpPr txBox="1">
            <a:spLocks/>
          </p:cNvSpPr>
          <p:nvPr/>
        </p:nvSpPr>
        <p:spPr>
          <a:xfrm>
            <a:off x="6253316" y="1288026"/>
            <a:ext cx="5675671" cy="4822518"/>
          </a:xfrm>
          <a:prstGeom prst="rect">
            <a:avLst/>
          </a:prstGeom>
        </p:spPr>
        <p:txBody>
          <a:bodyPr vert="horz" lIns="91440" tIns="45720" rIns="91440" bIns="45720" rtlCol="0" anchor="ctr">
            <a:normAutofit fontScale="82500" lnSpcReduction="10000"/>
          </a:bodyPr>
          <a:lstStyle>
            <a:lvl1pPr algn="ctr"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pPr>
              <a:lnSpc>
                <a:spcPct val="120000"/>
              </a:lnSpc>
              <a:spcAft>
                <a:spcPts val="1000"/>
              </a:spcAft>
            </a:pPr>
            <a:r>
              <a:rPr lang="en-US" sz="2900" dirty="0">
                <a:latin typeface="Times New Roman" panose="02020603050405020304" pitchFamily="18" charset="0"/>
                <a:ea typeface="Calibri" panose="020F0502020204030204" pitchFamily="34" charset="0"/>
                <a:cs typeface="Times New Roman" panose="02020603050405020304" pitchFamily="18" charset="0"/>
              </a:rPr>
              <a:t>Objectives </a:t>
            </a:r>
            <a:br>
              <a:rPr lang="en-US" sz="1800" b="1" dirty="0">
                <a:latin typeface="Times New Roman" panose="02020603050405020304" pitchFamily="18" charset="0"/>
                <a:ea typeface="Calibri" panose="020F0502020204030204" pitchFamily="34" charset="0"/>
                <a:cs typeface="Times New Roman" panose="02020603050405020304" pitchFamily="18" charset="0"/>
              </a:rPr>
            </a:br>
            <a:br>
              <a:rPr lang="en-US" sz="1800"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develop a traffic prediction model that accurately forecasts congestion levels on city roads.</a:t>
            </a: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design and implement a deep learning framework for enhanced spatial-temporal traffic analysis.</a:t>
            </a: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br>
              <a:rPr lang="en-US" sz="2000" cap="none"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integrate heterogeneous data sources including speed and road network characteristics </a:t>
            </a:r>
            <a:br>
              <a:rPr lang="en-US" sz="2000" cap="none" dirty="0">
                <a:latin typeface="Calibri" panose="020F0502020204030204" pitchFamily="34" charset="0"/>
                <a:ea typeface="Calibri" panose="020F0502020204030204" pitchFamily="34" charset="0"/>
                <a:cs typeface="Times New Roman" panose="02020603050405020304" pitchFamily="18" charset="0"/>
              </a:rPr>
            </a:br>
            <a:br>
              <a:rPr lang="en-US" sz="2000" cap="none"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evaluate the performance of the proposed model against traditional machine learning methods.</a:t>
            </a: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br>
              <a:rPr lang="en-US" sz="2000" cap="none"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provide actionable insights for traffic management systems in smart city infrastructure.</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9226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3909680" y="559998"/>
            <a:ext cx="4604134" cy="454842"/>
          </a:xfrm>
        </p:spPr>
        <p:txBody>
          <a:bodyPr>
            <a:normAutofit fontScale="90000"/>
          </a:bodyPr>
          <a:lstStyle/>
          <a:p>
            <a:r>
              <a:rPr lang="en-US" b="1" dirty="0">
                <a:latin typeface="Times New Roman" panose="02020603050405020304" pitchFamily="18" charset="0"/>
                <a:cs typeface="Times New Roman" panose="02020603050405020304" pitchFamily="18" charset="0"/>
              </a:rPr>
              <a:t>LITERATURE SURVEY</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graphicFrame>
        <p:nvGraphicFramePr>
          <p:cNvPr id="30" name="Table 29">
            <a:extLst>
              <a:ext uri="{FF2B5EF4-FFF2-40B4-BE49-F238E27FC236}">
                <a16:creationId xmlns:a16="http://schemas.microsoft.com/office/drawing/2014/main" id="{6416747D-55DD-0C8D-A35F-A93E51412C5E}"/>
              </a:ext>
            </a:extLst>
          </p:cNvPr>
          <p:cNvGraphicFramePr>
            <a:graphicFrameLocks noGrp="1"/>
          </p:cNvGraphicFramePr>
          <p:nvPr>
            <p:extLst>
              <p:ext uri="{D42A27DB-BD31-4B8C-83A1-F6EECF244321}">
                <p14:modId xmlns:p14="http://schemas.microsoft.com/office/powerpoint/2010/main" val="3622362979"/>
              </p:ext>
            </p:extLst>
          </p:nvPr>
        </p:nvGraphicFramePr>
        <p:xfrm>
          <a:off x="1052052" y="1463618"/>
          <a:ext cx="10087896" cy="5142540"/>
        </p:xfrm>
        <a:graphic>
          <a:graphicData uri="http://schemas.openxmlformats.org/drawingml/2006/table">
            <a:tbl>
              <a:tblPr firstRow="1" firstCol="1" bandRow="1">
                <a:tableStyleId>{8799B23B-EC83-4686-B30A-512413B5E67A}</a:tableStyleId>
              </a:tblPr>
              <a:tblGrid>
                <a:gridCol w="2140357">
                  <a:extLst>
                    <a:ext uri="{9D8B030D-6E8A-4147-A177-3AD203B41FA5}">
                      <a16:colId xmlns:a16="http://schemas.microsoft.com/office/drawing/2014/main" val="1428970924"/>
                    </a:ext>
                  </a:extLst>
                </a:gridCol>
                <a:gridCol w="1514063">
                  <a:extLst>
                    <a:ext uri="{9D8B030D-6E8A-4147-A177-3AD203B41FA5}">
                      <a16:colId xmlns:a16="http://schemas.microsoft.com/office/drawing/2014/main" val="1099393789"/>
                    </a:ext>
                  </a:extLst>
                </a:gridCol>
                <a:gridCol w="1271193">
                  <a:extLst>
                    <a:ext uri="{9D8B030D-6E8A-4147-A177-3AD203B41FA5}">
                      <a16:colId xmlns:a16="http://schemas.microsoft.com/office/drawing/2014/main" val="2829371662"/>
                    </a:ext>
                  </a:extLst>
                </a:gridCol>
                <a:gridCol w="2681906">
                  <a:extLst>
                    <a:ext uri="{9D8B030D-6E8A-4147-A177-3AD203B41FA5}">
                      <a16:colId xmlns:a16="http://schemas.microsoft.com/office/drawing/2014/main" val="3355602443"/>
                    </a:ext>
                  </a:extLst>
                </a:gridCol>
                <a:gridCol w="2480377">
                  <a:extLst>
                    <a:ext uri="{9D8B030D-6E8A-4147-A177-3AD203B41FA5}">
                      <a16:colId xmlns:a16="http://schemas.microsoft.com/office/drawing/2014/main" val="1253501770"/>
                    </a:ext>
                  </a:extLst>
                </a:gridCol>
              </a:tblGrid>
              <a:tr h="612425">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Title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Authors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Published Year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Methodology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Limitations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431662301"/>
                  </a:ext>
                </a:extLst>
              </a:tr>
              <a:tr h="1112896">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Traffic Prediction in Smart Cities Based on Hybrid Feature Space</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N. Zafar et al.</a:t>
                      </a:r>
                    </a:p>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2022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Hybrid GRU-LSTM model using heterogeneous data sources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indent="45720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Limited to Islamabad city data; high preprocessing complexity</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2257807784"/>
                  </a:ext>
                </a:extLst>
              </a:tr>
              <a:tr h="1588310">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A Comprehensive Evaluation of Deep Learning-Based Techniques for Traffic Prediction</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J. Mena-</a:t>
                      </a:r>
                      <a:r>
                        <a:rPr lang="en-IN" sz="1400" dirty="0" err="1">
                          <a:effectLst/>
                          <a:latin typeface="Times New Roman" panose="02020603050405020304" pitchFamily="18" charset="0"/>
                          <a:cs typeface="Times New Roman" panose="02020603050405020304" pitchFamily="18" charset="0"/>
                        </a:rPr>
                        <a:t>Oreja</a:t>
                      </a:r>
                      <a:r>
                        <a:rPr lang="en-IN" sz="1400" dirty="0">
                          <a:effectLst/>
                          <a:latin typeface="Times New Roman" panose="02020603050405020304" pitchFamily="18" charset="0"/>
                          <a:cs typeface="Times New Roman" panose="02020603050405020304" pitchFamily="18" charset="0"/>
                        </a:rPr>
                        <a:t> and J. </a:t>
                      </a:r>
                      <a:r>
                        <a:rPr lang="en-IN" sz="1400" dirty="0" err="1">
                          <a:effectLst/>
                          <a:latin typeface="Times New Roman" panose="02020603050405020304" pitchFamily="18" charset="0"/>
                          <a:cs typeface="Times New Roman" panose="02020603050405020304" pitchFamily="18" charset="0"/>
                        </a:rPr>
                        <a:t>Gozalvez</a:t>
                      </a:r>
                      <a:endParaRPr lang="en-IN" sz="1400" dirty="0">
                        <a:effectLst/>
                        <a:latin typeface="Times New Roman" panose="02020603050405020304" pitchFamily="18" charset="0"/>
                        <a:cs typeface="Times New Roman" panose="02020603050405020304" pitchFamily="18" charset="0"/>
                      </a:endParaRPr>
                    </a:p>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2020</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p>
                    <a:p>
                      <a:pPr indent="45720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Survey of deep learning models including CNNs, RNNs, LSTM, GRU</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Lacks real-world deployment examples</a:t>
                      </a:r>
                    </a:p>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4213411198"/>
                  </a:ext>
                </a:extLst>
              </a:tr>
              <a:tr h="825830">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AI-Driven Traffic Congestion Management</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S. P. S. Rathore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Predictive analytics with AI-based congestion models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Focuses more on conceptual framework, lacks model specifics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3205460731"/>
                  </a:ext>
                </a:extLst>
              </a:tr>
              <a:tr h="825830">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AI-Powered Traffic Management</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M. D. Malathi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AI for congestion detection and signal regulation using ML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Limited dataset scalability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4079770794"/>
                  </a:ext>
                </a:extLst>
              </a:tr>
            </a:tbl>
          </a:graphicData>
        </a:graphic>
      </p:graphicFrame>
    </p:spTree>
    <p:extLst>
      <p:ext uri="{BB962C8B-B14F-4D97-AF65-F5344CB8AC3E}">
        <p14:creationId xmlns:p14="http://schemas.microsoft.com/office/powerpoint/2010/main" val="212117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0" name="Table 19">
            <a:extLst>
              <a:ext uri="{FF2B5EF4-FFF2-40B4-BE49-F238E27FC236}">
                <a16:creationId xmlns:a16="http://schemas.microsoft.com/office/drawing/2014/main" id="{DD1C5203-0885-648A-61DC-232957AF480E}"/>
              </a:ext>
            </a:extLst>
          </p:cNvPr>
          <p:cNvGraphicFramePr>
            <a:graphicFrameLocks noGrp="1"/>
          </p:cNvGraphicFramePr>
          <p:nvPr>
            <p:extLst>
              <p:ext uri="{D42A27DB-BD31-4B8C-83A1-F6EECF244321}">
                <p14:modId xmlns:p14="http://schemas.microsoft.com/office/powerpoint/2010/main" val="447944146"/>
              </p:ext>
            </p:extLst>
          </p:nvPr>
        </p:nvGraphicFramePr>
        <p:xfrm>
          <a:off x="856527" y="1158836"/>
          <a:ext cx="10115154" cy="3899301"/>
        </p:xfrm>
        <a:graphic>
          <a:graphicData uri="http://schemas.openxmlformats.org/drawingml/2006/table">
            <a:tbl>
              <a:tblPr firstRow="1" firstCol="1" bandRow="1">
                <a:tableStyleId>{8799B23B-EC83-4686-B30A-512413B5E67A}</a:tableStyleId>
              </a:tblPr>
              <a:tblGrid>
                <a:gridCol w="2146141">
                  <a:extLst>
                    <a:ext uri="{9D8B030D-6E8A-4147-A177-3AD203B41FA5}">
                      <a16:colId xmlns:a16="http://schemas.microsoft.com/office/drawing/2014/main" val="4181011844"/>
                    </a:ext>
                  </a:extLst>
                </a:gridCol>
                <a:gridCol w="1518155">
                  <a:extLst>
                    <a:ext uri="{9D8B030D-6E8A-4147-A177-3AD203B41FA5}">
                      <a16:colId xmlns:a16="http://schemas.microsoft.com/office/drawing/2014/main" val="2736508255"/>
                    </a:ext>
                  </a:extLst>
                </a:gridCol>
                <a:gridCol w="1274627">
                  <a:extLst>
                    <a:ext uri="{9D8B030D-6E8A-4147-A177-3AD203B41FA5}">
                      <a16:colId xmlns:a16="http://schemas.microsoft.com/office/drawing/2014/main" val="2395953573"/>
                    </a:ext>
                  </a:extLst>
                </a:gridCol>
                <a:gridCol w="2689153">
                  <a:extLst>
                    <a:ext uri="{9D8B030D-6E8A-4147-A177-3AD203B41FA5}">
                      <a16:colId xmlns:a16="http://schemas.microsoft.com/office/drawing/2014/main" val="2380035441"/>
                    </a:ext>
                  </a:extLst>
                </a:gridCol>
                <a:gridCol w="2487078">
                  <a:extLst>
                    <a:ext uri="{9D8B030D-6E8A-4147-A177-3AD203B41FA5}">
                      <a16:colId xmlns:a16="http://schemas.microsoft.com/office/drawing/2014/main" val="1673561436"/>
                    </a:ext>
                  </a:extLst>
                </a:gridCol>
              </a:tblGrid>
              <a:tr h="1297805">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Enhancing Traffic Flow with IoT-based Intelligent Traffic System</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M. H. Kabir and M. S. Islam</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2024</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indent="457200"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IoT integration with intelligent traffic management</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Security and integration challenges</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extLst>
                  <a:ext uri="{0D108BD9-81ED-4DB2-BD59-A6C34878D82A}">
                    <a16:rowId xmlns:a16="http://schemas.microsoft.com/office/drawing/2014/main" val="1726127262"/>
                  </a:ext>
                </a:extLst>
              </a:tr>
              <a:tr h="1564173">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Entropy-Based Traffic Flow Labelling</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M. Z. Mehdi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2022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CNN model using entropy-based feature labelling IoT-enabled traffic signal manipulation for emergency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Doesn’t consider dynamic road conditions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extLst>
                  <a:ext uri="{0D108BD9-81ED-4DB2-BD59-A6C34878D82A}">
                    <a16:rowId xmlns:a16="http://schemas.microsoft.com/office/drawing/2014/main" val="2301135673"/>
                  </a:ext>
                </a:extLst>
              </a:tr>
              <a:tr h="1037323">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IoT-Based Traffic Control System for Emergency Vehicles</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K. P. Kavitha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IoT-enabled traffic signal manipulation for emergency</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Limited to emergency vehicle focus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extLst>
                  <a:ext uri="{0D108BD9-81ED-4DB2-BD59-A6C34878D82A}">
                    <a16:rowId xmlns:a16="http://schemas.microsoft.com/office/drawing/2014/main" val="549013710"/>
                  </a:ext>
                </a:extLst>
              </a:tr>
            </a:tbl>
          </a:graphicData>
        </a:graphic>
      </p:graphicFrame>
    </p:spTree>
    <p:extLst>
      <p:ext uri="{BB962C8B-B14F-4D97-AF65-F5344CB8AC3E}">
        <p14:creationId xmlns:p14="http://schemas.microsoft.com/office/powerpoint/2010/main" val="47387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8B7F3-23F0-8D5C-A241-3EF765930987}"/>
              </a:ext>
            </a:extLst>
          </p:cNvPr>
          <p:cNvSpPr>
            <a:spLocks noGrp="1"/>
          </p:cNvSpPr>
          <p:nvPr>
            <p:ph type="title"/>
          </p:nvPr>
        </p:nvSpPr>
        <p:spPr>
          <a:xfrm>
            <a:off x="838200" y="365126"/>
            <a:ext cx="10515600" cy="658812"/>
          </a:xfrm>
        </p:spPr>
        <p:txBody>
          <a:bodyPr/>
          <a:lstStyle/>
          <a:p>
            <a:r>
              <a:rPr lang="en-US" b="1" dirty="0">
                <a:latin typeface="Times New Roman" panose="02020603050405020304" pitchFamily="18" charset="0"/>
                <a:cs typeface="Times New Roman" panose="02020603050405020304" pitchFamily="18" charset="0"/>
              </a:rPr>
              <a:t>PROPOSED MODEL</a:t>
            </a:r>
            <a:endParaRPr lang="en-IN"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7F188CE5-1156-B719-F2AA-70D11728D150}"/>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12C7908C-50D6-7BE6-7926-551545FF5B3C}"/>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77A8CC1-5484-8537-7863-A55B74FA833A}"/>
              </a:ext>
            </a:extLst>
          </p:cNvPr>
          <p:cNvSpPr>
            <a:spLocks noGrp="1"/>
          </p:cNvSpPr>
          <p:nvPr>
            <p:ph type="sldNum" sz="quarter" idx="12"/>
          </p:nvPr>
        </p:nvSpPr>
        <p:spPr/>
        <p:txBody>
          <a:bodyPr/>
          <a:lstStyle/>
          <a:p>
            <a:fld id="{B5CEABB6-07DC-46E8-9B57-56EC44A396E5}" type="slidenum">
              <a:rPr lang="en-US" smtClean="0"/>
              <a:t>8</a:t>
            </a:fld>
            <a:endParaRPr lang="en-US" dirty="0"/>
          </a:p>
        </p:txBody>
      </p:sp>
      <p:pic>
        <p:nvPicPr>
          <p:cNvPr id="7" name="Content Placeholder 6">
            <a:extLst>
              <a:ext uri="{FF2B5EF4-FFF2-40B4-BE49-F238E27FC236}">
                <a16:creationId xmlns:a16="http://schemas.microsoft.com/office/drawing/2014/main" id="{3EC78DE7-BEBA-8760-0F61-EFEC3E75902F}"/>
              </a:ext>
            </a:extLst>
          </p:cNvPr>
          <p:cNvPicPr>
            <a:picLocks noGrp="1" noChangeAspect="1"/>
          </p:cNvPicPr>
          <p:nvPr>
            <p:ph sz="quarter" idx="16"/>
          </p:nvPr>
        </p:nvPicPr>
        <p:blipFill rotWithShape="1">
          <a:blip r:embed="rId2" cstate="print">
            <a:duotone>
              <a:prstClr val="black"/>
              <a:schemeClr val="tx1">
                <a:tint val="45000"/>
                <a:satMod val="400000"/>
              </a:schemeClr>
            </a:duotone>
            <a:alphaModFix/>
            <a:extLst>
              <a:ext uri="{BEBA8EAE-BF5A-486C-A8C5-ECC9F3942E4B}">
                <a14:imgProps xmlns:a14="http://schemas.microsoft.com/office/drawing/2010/main">
                  <a14:imgLayer r:embed="rId3">
                    <a14:imgEffect>
                      <a14:sharpenSoften amount="100000"/>
                    </a14:imgEffect>
                    <a14:imgEffect>
                      <a14:colorTemperature colorTemp="6300"/>
                    </a14:imgEffect>
                    <a14:imgEffect>
                      <a14:brightnessContrast bright="40000" contrast="100000"/>
                    </a14:imgEffect>
                  </a14:imgLayer>
                </a14:imgProps>
              </a:ext>
              <a:ext uri="{28A0092B-C50C-407E-A947-70E740481C1C}">
                <a14:useLocalDpi xmlns:a14="http://schemas.microsoft.com/office/drawing/2010/main" val="0"/>
              </a:ext>
            </a:extLst>
          </a:blip>
          <a:srcRect l="18374" r="30700" b="27483"/>
          <a:stretch/>
        </p:blipFill>
        <p:spPr bwMode="auto">
          <a:xfrm>
            <a:off x="2408904" y="1108979"/>
            <a:ext cx="6985384" cy="5162330"/>
          </a:xfrm>
          <a:prstGeom prst="rect">
            <a:avLst/>
          </a:prstGeom>
          <a:noFill/>
          <a:ln>
            <a:noFill/>
          </a:ln>
          <a:effectLst>
            <a:innerShdw dir="21540000">
              <a:prstClr val="black"/>
            </a:innerShdw>
            <a:reflection blurRad="1270000" stA="0" endPos="68000" dist="50800" dir="5400000" sy="-100000" algn="bl" rotWithShape="0"/>
            <a:softEdge rad="0"/>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45116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4001B-CBE0-7762-2BAB-F452D487982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System Analysis and Design</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93AC90A7-D291-263D-ED88-05A12A89172E}"/>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E421A939-78CD-331E-9326-D6F7B7373BF8}"/>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DA4C4297-09B6-50C9-9FD4-25CE6FB0B00C}"/>
              </a:ext>
            </a:extLst>
          </p:cNvPr>
          <p:cNvSpPr>
            <a:spLocks noGrp="1"/>
          </p:cNvSpPr>
          <p:nvPr>
            <p:ph type="sldNum" sz="quarter" idx="12"/>
          </p:nvPr>
        </p:nvSpPr>
        <p:spPr/>
        <p:txBody>
          <a:bodyPr/>
          <a:lstStyle/>
          <a:p>
            <a:fld id="{B5CEABB6-07DC-46E8-9B57-56EC44A396E5}" type="slidenum">
              <a:rPr lang="en-US" smtClean="0"/>
              <a:t>9</a:t>
            </a:fld>
            <a:endParaRPr lang="en-US" dirty="0"/>
          </a:p>
        </p:txBody>
      </p:sp>
      <p:sp>
        <p:nvSpPr>
          <p:cNvPr id="6" name="Content Placeholder 5">
            <a:extLst>
              <a:ext uri="{FF2B5EF4-FFF2-40B4-BE49-F238E27FC236}">
                <a16:creationId xmlns:a16="http://schemas.microsoft.com/office/drawing/2014/main" id="{E8DCEE25-4190-3FD6-AD5D-55218C9D92C8}"/>
              </a:ext>
            </a:extLst>
          </p:cNvPr>
          <p:cNvSpPr>
            <a:spLocks noGrp="1"/>
          </p:cNvSpPr>
          <p:nvPr>
            <p:ph sz="quarter" idx="16"/>
          </p:nvPr>
        </p:nvSpPr>
        <p:spPr>
          <a:xfrm>
            <a:off x="838201" y="1438685"/>
            <a:ext cx="10515599" cy="3697288"/>
          </a:xfrm>
        </p:spPr>
        <p:txBody>
          <a:bodyPr>
            <a:noAutofit/>
          </a:bodyPr>
          <a:lstStyle/>
          <a:p>
            <a:r>
              <a:rPr lang="en-US" sz="2000" dirty="0">
                <a:latin typeface="Times New Roman" panose="02020603050405020304" pitchFamily="18" charset="0"/>
                <a:cs typeface="Times New Roman" panose="02020603050405020304" pitchFamily="18" charset="0"/>
              </a:rPr>
              <a:t>The system aims to predict real-time urban traffic congestion using deep learning and big data processing.</a:t>
            </a:r>
          </a:p>
          <a:p>
            <a:r>
              <a:rPr lang="en-US" sz="2000" dirty="0">
                <a:latin typeface="Times New Roman" panose="02020603050405020304" pitchFamily="18" charset="0"/>
                <a:cs typeface="Times New Roman" panose="02020603050405020304" pitchFamily="18" charset="0"/>
              </a:rPr>
              <a:t>It follows a structured pipeline:</a:t>
            </a:r>
          </a:p>
          <a:p>
            <a:pPr lvl="1"/>
            <a:r>
              <a:rPr lang="en-US" sz="2000" dirty="0">
                <a:latin typeface="Times New Roman" panose="02020603050405020304" pitchFamily="18" charset="0"/>
                <a:cs typeface="Times New Roman" panose="02020603050405020304" pitchFamily="18" charset="0"/>
              </a:rPr>
              <a:t>Data Acquisition – Real-time data from APIs like TomTom (speed, travel time, coordinates).</a:t>
            </a:r>
          </a:p>
          <a:p>
            <a:pPr lvl="1"/>
            <a:r>
              <a:rPr lang="en-US" sz="2000" dirty="0">
                <a:latin typeface="Times New Roman" panose="02020603050405020304" pitchFamily="18" charset="0"/>
                <a:cs typeface="Times New Roman" panose="02020603050405020304" pitchFamily="18" charset="0"/>
              </a:rPr>
              <a:t>Preprocessing – Handles missing values, normalizes data, aligns timestamps, and creates time windows.</a:t>
            </a:r>
          </a:p>
          <a:p>
            <a:pPr lvl="1"/>
            <a:r>
              <a:rPr lang="en-US" sz="2000" dirty="0">
                <a:latin typeface="Times New Roman" panose="02020603050405020304" pitchFamily="18" charset="0"/>
                <a:cs typeface="Times New Roman" panose="02020603050405020304" pitchFamily="18" charset="0"/>
              </a:rPr>
              <a:t>Feature Engineering – Adds derived features like speed variability, hour-of-day, weekday/weekend.</a:t>
            </a:r>
          </a:p>
          <a:p>
            <a:pPr lvl="1"/>
            <a:r>
              <a:rPr lang="en-US" sz="2000" dirty="0">
                <a:latin typeface="Times New Roman" panose="02020603050405020304" pitchFamily="18" charset="0"/>
                <a:cs typeface="Times New Roman" panose="02020603050405020304" pitchFamily="18" charset="0"/>
              </a:rPr>
              <a:t>Model Design – Evaluates models such as LSTM, GRU, Random Forest, and hybrid networks.</a:t>
            </a:r>
          </a:p>
          <a:p>
            <a:pPr lvl="1"/>
            <a:r>
              <a:rPr lang="en-US" sz="2000" dirty="0">
                <a:latin typeface="Times New Roman" panose="02020603050405020304" pitchFamily="18" charset="0"/>
                <a:cs typeface="Times New Roman" panose="02020603050405020304" pitchFamily="18" charset="0"/>
              </a:rPr>
              <a:t>Evaluation – Uses metrics like MSE, RMSE, MAE, and R² to assess performance.</a:t>
            </a:r>
          </a:p>
          <a:p>
            <a:r>
              <a:rPr lang="en-US" sz="2000" dirty="0">
                <a:latin typeface="Times New Roman" panose="02020603050405020304" pitchFamily="18" charset="0"/>
                <a:cs typeface="Times New Roman" panose="02020603050405020304" pitchFamily="18" charset="0"/>
              </a:rPr>
              <a:t>The architecture integrates Apache Kafka (for ingestion) and Apache Spark (for distributed stream processing).</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864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BB6C9-1F2E-445F-0338-5C3D9E9018C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Implementation and Testing</a:t>
            </a:r>
          </a:p>
        </p:txBody>
      </p:sp>
      <p:sp>
        <p:nvSpPr>
          <p:cNvPr id="3" name="Date Placeholder 2">
            <a:extLst>
              <a:ext uri="{FF2B5EF4-FFF2-40B4-BE49-F238E27FC236}">
                <a16:creationId xmlns:a16="http://schemas.microsoft.com/office/drawing/2014/main" id="{4EC13288-810B-FAEA-9EC8-B0AA84E8D6FE}"/>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125DF3EF-D2CE-7755-9EDE-7CF6DC69EB8F}"/>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954C2E73-F2E2-3B24-D1CF-D5C88B9FB5C7}"/>
              </a:ext>
            </a:extLst>
          </p:cNvPr>
          <p:cNvSpPr>
            <a:spLocks noGrp="1"/>
          </p:cNvSpPr>
          <p:nvPr>
            <p:ph type="sldNum" sz="quarter" idx="12"/>
          </p:nvPr>
        </p:nvSpPr>
        <p:spPr/>
        <p:txBody>
          <a:bodyPr/>
          <a:lstStyle/>
          <a:p>
            <a:fld id="{B5CEABB6-07DC-46E8-9B57-56EC44A396E5}" type="slidenum">
              <a:rPr lang="en-US" smtClean="0"/>
              <a:t>10</a:t>
            </a:fld>
            <a:endParaRPr lang="en-US" dirty="0"/>
          </a:p>
        </p:txBody>
      </p:sp>
      <p:sp>
        <p:nvSpPr>
          <p:cNvPr id="7" name="Rectangle 1">
            <a:extLst>
              <a:ext uri="{FF2B5EF4-FFF2-40B4-BE49-F238E27FC236}">
                <a16:creationId xmlns:a16="http://schemas.microsoft.com/office/drawing/2014/main" id="{B1FB6B9E-9C09-E723-0CB9-CDAC3230461D}"/>
              </a:ext>
            </a:extLst>
          </p:cNvPr>
          <p:cNvSpPr>
            <a:spLocks noGrp="1" noChangeArrowheads="1"/>
          </p:cNvSpPr>
          <p:nvPr>
            <p:ph sz="quarter" idx="16"/>
          </p:nvPr>
        </p:nvSpPr>
        <p:spPr bwMode="auto">
          <a:xfrm>
            <a:off x="838200" y="1903500"/>
            <a:ext cx="10671704"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using real-time traffic data retrieved from the TomTom API.</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and validation split: 80% training, 20% validation.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LSTM model was trained in a sequence-to-one setup using historical and derived traffic features.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was performed on multiple models (LSTM, GRU, Random Forest).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metrics included MSE, RMSE, MAE, and R² for accuracy and error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achieved the best results — MSE: 0.0438, RMSE: 0.209, MAE: 0.160, R²: 0.88.</a:t>
            </a:r>
          </a:p>
        </p:txBody>
      </p:sp>
    </p:spTree>
    <p:extLst>
      <p:ext uri="{BB962C8B-B14F-4D97-AF65-F5344CB8AC3E}">
        <p14:creationId xmlns:p14="http://schemas.microsoft.com/office/powerpoint/2010/main" val="14746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4F04-6049-0A21-76B7-56217974453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and Discussion</a:t>
            </a:r>
          </a:p>
        </p:txBody>
      </p:sp>
      <p:sp>
        <p:nvSpPr>
          <p:cNvPr id="3" name="Date Placeholder 2">
            <a:extLst>
              <a:ext uri="{FF2B5EF4-FFF2-40B4-BE49-F238E27FC236}">
                <a16:creationId xmlns:a16="http://schemas.microsoft.com/office/drawing/2014/main" id="{D4C8930E-8ACA-8AFA-4DCA-05E1C4ABF15C}"/>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859B99F-9220-A8B3-D6FA-08341CEB48B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1939E119-B8B8-A13B-24DA-02CEA72F9561}"/>
              </a:ext>
            </a:extLst>
          </p:cNvPr>
          <p:cNvSpPr>
            <a:spLocks noGrp="1"/>
          </p:cNvSpPr>
          <p:nvPr>
            <p:ph type="sldNum" sz="quarter" idx="12"/>
          </p:nvPr>
        </p:nvSpPr>
        <p:spPr/>
        <p:txBody>
          <a:bodyPr/>
          <a:lstStyle/>
          <a:p>
            <a:fld id="{B5CEABB6-07DC-46E8-9B57-56EC44A396E5}" type="slidenum">
              <a:rPr lang="en-US" smtClean="0"/>
              <a:t>11</a:t>
            </a:fld>
            <a:endParaRPr lang="en-US" dirty="0"/>
          </a:p>
        </p:txBody>
      </p:sp>
      <p:sp>
        <p:nvSpPr>
          <p:cNvPr id="7" name="Rectangle 1">
            <a:extLst>
              <a:ext uri="{FF2B5EF4-FFF2-40B4-BE49-F238E27FC236}">
                <a16:creationId xmlns:a16="http://schemas.microsoft.com/office/drawing/2014/main" id="{51E19AB2-F372-C24C-2F5B-7035A4E64B8B}"/>
              </a:ext>
            </a:extLst>
          </p:cNvPr>
          <p:cNvSpPr>
            <a:spLocks noGrp="1" noChangeArrowheads="1"/>
          </p:cNvSpPr>
          <p:nvPr>
            <p:ph sz="quarter" idx="16"/>
          </p:nvPr>
        </p:nvSpPr>
        <p:spPr bwMode="auto">
          <a:xfrm>
            <a:off x="838200" y="2114715"/>
            <a:ext cx="6506498" cy="374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600" dirty="0">
                <a:solidFill>
                  <a:schemeClr val="tx1"/>
                </a:solidFill>
                <a:latin typeface="Times New Roman" panose="02020603050405020304" pitchFamily="18" charset="0"/>
                <a:cs typeface="Times New Roman" panose="02020603050405020304" pitchFamily="18" charset="0"/>
              </a:rPr>
              <a:t>GRU</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provided the most stable and accurate congestion predictions compared to </a:t>
            </a:r>
            <a:r>
              <a:rPr lang="en-US" altLang="en-US" sz="1600" dirty="0">
                <a:solidFill>
                  <a:schemeClr val="tx1"/>
                </a:solidFill>
                <a:latin typeface="Times New Roman" panose="02020603050405020304" pitchFamily="18" charset="0"/>
                <a:cs typeface="Times New Roman" panose="02020603050405020304" pitchFamily="18" charset="0"/>
              </a:rPr>
              <a:t>LSTM</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lang="en-US" altLang="en-US" sz="1600" dirty="0">
                <a:solidFill>
                  <a:schemeClr val="tx1"/>
                </a:solidFill>
                <a:latin typeface="Times New Roman" panose="02020603050405020304" pitchFamily="18" charset="0"/>
                <a:cs typeface="Times New Roman" panose="02020603050405020304" pitchFamily="18" charset="0"/>
              </a:rPr>
              <a:t>Hybrid models</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600" dirty="0">
                <a:solidFill>
                  <a:schemeClr val="tx1"/>
                </a:solidFill>
                <a:latin typeface="Times New Roman" panose="02020603050405020304" pitchFamily="18" charset="0"/>
                <a:cs typeface="Times New Roman" panose="02020603050405020304" pitchFamily="18" charset="0"/>
              </a:rPr>
              <a:t>LSTM</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captured short-term traffic fluctuations but struggled with sudden congestion peaks.</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Hourly traffic patterns revealed moderate congestion between 9:00–10:30 AM, with average speed 17–18 km/h.</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analysis confirmed a negative correlation between speed and congestion index.</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deep learning-based models outperformed classical ML approaches in predicting spatiotemporal traffic behavior.</a:t>
            </a:r>
          </a:p>
        </p:txBody>
      </p:sp>
      <p:pic>
        <p:nvPicPr>
          <p:cNvPr id="10" name="Picture 9">
            <a:extLst>
              <a:ext uri="{FF2B5EF4-FFF2-40B4-BE49-F238E27FC236}">
                <a16:creationId xmlns:a16="http://schemas.microsoft.com/office/drawing/2014/main" id="{9396EE98-FDAE-1CA1-229E-208A924543F9}"/>
              </a:ext>
            </a:extLst>
          </p:cNvPr>
          <p:cNvPicPr>
            <a:picLocks noChangeAspect="1"/>
          </p:cNvPicPr>
          <p:nvPr/>
        </p:nvPicPr>
        <p:blipFill>
          <a:blip r:embed="rId2"/>
          <a:stretch>
            <a:fillRect/>
          </a:stretch>
        </p:blipFill>
        <p:spPr>
          <a:xfrm>
            <a:off x="7344698" y="2190914"/>
            <a:ext cx="4320562" cy="3069344"/>
          </a:xfrm>
          <a:prstGeom prst="rect">
            <a:avLst/>
          </a:prstGeom>
        </p:spPr>
      </p:pic>
    </p:spTree>
    <p:extLst>
      <p:ext uri="{BB962C8B-B14F-4D97-AF65-F5344CB8AC3E}">
        <p14:creationId xmlns:p14="http://schemas.microsoft.com/office/powerpoint/2010/main" val="168360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B763-E089-5F8A-9F72-D8D66E5D656C}"/>
              </a:ext>
            </a:extLst>
          </p:cNvPr>
          <p:cNvSpPr>
            <a:spLocks noGrp="1"/>
          </p:cNvSpPr>
          <p:nvPr>
            <p:ph type="title"/>
          </p:nvPr>
        </p:nvSpPr>
        <p:spPr>
          <a:xfrm>
            <a:off x="838200" y="811212"/>
            <a:ext cx="10515600" cy="1325563"/>
          </a:xfrm>
        </p:spPr>
        <p:txBody>
          <a:bodyPr/>
          <a:lstStyle/>
          <a:p>
            <a:r>
              <a:rPr lang="en-US" b="1" dirty="0">
                <a:latin typeface="Times New Roman" panose="02020603050405020304" pitchFamily="18" charset="0"/>
                <a:cs typeface="Times New Roman" panose="02020603050405020304" pitchFamily="18" charset="0"/>
              </a:rPr>
              <a:t>Conclusion and Future Scope</a:t>
            </a:r>
            <a:br>
              <a:rPr lang="en-US" b="1" dirty="0">
                <a:latin typeface="Times New Roman" panose="02020603050405020304" pitchFamily="18" charset="0"/>
                <a:cs typeface="Times New Roman" panose="02020603050405020304" pitchFamily="18" charset="0"/>
              </a:rPr>
            </a:br>
            <a:endParaRPr lang="en-IN" dirty="0"/>
          </a:p>
        </p:txBody>
      </p:sp>
      <p:sp>
        <p:nvSpPr>
          <p:cNvPr id="3" name="Date Placeholder 2">
            <a:extLst>
              <a:ext uri="{FF2B5EF4-FFF2-40B4-BE49-F238E27FC236}">
                <a16:creationId xmlns:a16="http://schemas.microsoft.com/office/drawing/2014/main" id="{C0903AF4-3B75-AA1D-BBAD-74B1DC030445}"/>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69A01FD8-1179-6ACA-CF13-89E3F91E046F}"/>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3E5A75FA-42CD-4CB8-7272-EDD05EF836E9}"/>
              </a:ext>
            </a:extLst>
          </p:cNvPr>
          <p:cNvSpPr>
            <a:spLocks noGrp="1"/>
          </p:cNvSpPr>
          <p:nvPr>
            <p:ph type="sldNum" sz="quarter" idx="12"/>
          </p:nvPr>
        </p:nvSpPr>
        <p:spPr/>
        <p:txBody>
          <a:bodyPr/>
          <a:lstStyle/>
          <a:p>
            <a:fld id="{B5CEABB6-07DC-46E8-9B57-56EC44A396E5}" type="slidenum">
              <a:rPr lang="en-US" smtClean="0"/>
              <a:t>12</a:t>
            </a:fld>
            <a:endParaRPr lang="en-US" dirty="0"/>
          </a:p>
        </p:txBody>
      </p:sp>
      <p:sp>
        <p:nvSpPr>
          <p:cNvPr id="8" name="Text Placeholder 7">
            <a:extLst>
              <a:ext uri="{FF2B5EF4-FFF2-40B4-BE49-F238E27FC236}">
                <a16:creationId xmlns:a16="http://schemas.microsoft.com/office/drawing/2014/main" id="{33B7100F-9A16-E678-F6F7-5262B8AFBDA0}"/>
              </a:ext>
            </a:extLst>
          </p:cNvPr>
          <p:cNvSpPr>
            <a:spLocks noGrp="1"/>
          </p:cNvSpPr>
          <p:nvPr>
            <p:ph sz="quarter" idx="16"/>
          </p:nvPr>
        </p:nvSpPr>
        <p:spPr>
          <a:xfrm>
            <a:off x="838200" y="2136775"/>
            <a:ext cx="10515600" cy="3697288"/>
          </a:xfrm>
        </p:spPr>
        <p:txBody>
          <a:bodyPr>
            <a:no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real-time traffic congestion prediction system using deep learning was successfully designed and tested.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effectively forecasts congestion levels to assist urban traffic management and </a:t>
            </a:r>
            <a:r>
              <a:rPr lang="en-US" sz="2000" b="1" dirty="0">
                <a:latin typeface="Times New Roman" panose="02020603050405020304" pitchFamily="18" charset="0"/>
                <a:cs typeface="Times New Roman" panose="02020603050405020304" pitchFamily="18" charset="0"/>
              </a:rPr>
              <a:t>route </a:t>
            </a:r>
            <a:r>
              <a:rPr lang="en-US" sz="2000" dirty="0">
                <a:latin typeface="Times New Roman" panose="02020603050405020304" pitchFamily="18" charset="0"/>
                <a:cs typeface="Times New Roman" panose="02020603050405020304" pitchFamily="18" charset="0"/>
              </a:rPr>
              <a:t>optimization.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Integration of LSTM and GRU models captured temporal traffic dependencies efficiently.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work includes: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Incorporating </a:t>
            </a:r>
            <a:r>
              <a:rPr lang="en-US" sz="2000" b="1" dirty="0">
                <a:latin typeface="Times New Roman" panose="02020603050405020304" pitchFamily="18" charset="0"/>
                <a:cs typeface="Times New Roman" panose="02020603050405020304" pitchFamily="18" charset="0"/>
              </a:rPr>
              <a:t>Transformer-based models</a:t>
            </a:r>
            <a:r>
              <a:rPr lang="en-US" sz="2000" dirty="0">
                <a:latin typeface="Times New Roman" panose="02020603050405020304" pitchFamily="18" charset="0"/>
                <a:cs typeface="Times New Roman" panose="02020603050405020304" pitchFamily="18" charset="0"/>
              </a:rPr>
              <a:t> for improved prediction accuracy.</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Developing </a:t>
            </a:r>
            <a:r>
              <a:rPr lang="en-US" sz="2000" b="1" dirty="0">
                <a:latin typeface="Times New Roman" panose="02020603050405020304" pitchFamily="18" charset="0"/>
                <a:cs typeface="Times New Roman" panose="02020603050405020304" pitchFamily="18" charset="0"/>
              </a:rPr>
              <a:t>interactive dashboards</a:t>
            </a:r>
            <a:r>
              <a:rPr lang="en-US" sz="2000" dirty="0">
                <a:latin typeface="Times New Roman" panose="02020603050405020304" pitchFamily="18" charset="0"/>
                <a:cs typeface="Times New Roman" panose="02020603050405020304" pitchFamily="18" charset="0"/>
              </a:rPr>
              <a:t> for visualization and alerts.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Scaling the system to </a:t>
            </a:r>
            <a:r>
              <a:rPr lang="en-US" sz="2000" b="1" dirty="0">
                <a:latin typeface="Times New Roman" panose="02020603050405020304" pitchFamily="18" charset="0"/>
                <a:cs typeface="Times New Roman" panose="02020603050405020304" pitchFamily="18" charset="0"/>
              </a:rPr>
              <a:t>multi-city or nationwide smart city frameworks</a:t>
            </a:r>
            <a:r>
              <a:rPr lang="en-US"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Exploring </a:t>
            </a:r>
            <a:r>
              <a:rPr lang="en-US" sz="2000" b="1" dirty="0">
                <a:latin typeface="Times New Roman" panose="02020603050405020304" pitchFamily="18" charset="0"/>
                <a:cs typeface="Times New Roman" panose="02020603050405020304" pitchFamily="18" charset="0"/>
              </a:rPr>
              <a:t>reinforcement learning</a:t>
            </a:r>
            <a:r>
              <a:rPr lang="en-US" sz="2000" dirty="0">
                <a:latin typeface="Times New Roman" panose="02020603050405020304" pitchFamily="18" charset="0"/>
                <a:cs typeface="Times New Roman" panose="02020603050405020304" pitchFamily="18" charset="0"/>
              </a:rPr>
              <a:t> for adaptive traffic control and signal optimization.</a:t>
            </a:r>
          </a:p>
        </p:txBody>
      </p:sp>
    </p:spTree>
    <p:extLst>
      <p:ext uri="{BB962C8B-B14F-4D97-AF65-F5344CB8AC3E}">
        <p14:creationId xmlns:p14="http://schemas.microsoft.com/office/powerpoint/2010/main" val="2523069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1C42-D43B-23D6-A606-28B19128656B}"/>
              </a:ext>
            </a:extLst>
          </p:cNvPr>
          <p:cNvSpPr>
            <a:spLocks noGrp="1"/>
          </p:cNvSpPr>
          <p:nvPr>
            <p:ph type="title"/>
          </p:nvPr>
        </p:nvSpPr>
        <p:spPr>
          <a:xfrm>
            <a:off x="838200" y="365126"/>
            <a:ext cx="10515600" cy="745920"/>
          </a:xfrm>
        </p:spPr>
        <p:txBody>
          <a:bodyPr>
            <a:normAutofit/>
          </a:bodyPr>
          <a:lstStyle/>
          <a:p>
            <a:r>
              <a:rPr lang="en-US" sz="3600" dirty="0">
                <a:latin typeface="Times New Roman" panose="02020603050405020304" pitchFamily="18" charset="0"/>
                <a:cs typeface="Times New Roman" panose="02020603050405020304" pitchFamily="18" charset="0"/>
              </a:rPr>
              <a:t>REFERENCE</a:t>
            </a:r>
            <a:endParaRPr lang="en-IN" sz="36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9C2DFA6-2C84-13A7-A122-7D5FC24F1450}"/>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26329CA3-2755-E896-03B8-E9B1FA62CC72}"/>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97AA072-0108-754B-8586-AFFE442CE50D}"/>
              </a:ext>
            </a:extLst>
          </p:cNvPr>
          <p:cNvSpPr>
            <a:spLocks noGrp="1"/>
          </p:cNvSpPr>
          <p:nvPr>
            <p:ph type="sldNum" sz="quarter" idx="12"/>
          </p:nvPr>
        </p:nvSpPr>
        <p:spPr/>
        <p:txBody>
          <a:bodyPr/>
          <a:lstStyle/>
          <a:p>
            <a:fld id="{B5CEABB6-07DC-46E8-9B57-56EC44A396E5}" type="slidenum">
              <a:rPr lang="en-US" smtClean="0"/>
              <a:t>13</a:t>
            </a:fld>
            <a:endParaRPr lang="en-US" dirty="0"/>
          </a:p>
        </p:txBody>
      </p:sp>
      <p:sp>
        <p:nvSpPr>
          <p:cNvPr id="6" name="Content Placeholder 5">
            <a:extLst>
              <a:ext uri="{FF2B5EF4-FFF2-40B4-BE49-F238E27FC236}">
                <a16:creationId xmlns:a16="http://schemas.microsoft.com/office/drawing/2014/main" id="{692742DA-45B8-D222-C41D-0E1CAF440A14}"/>
              </a:ext>
            </a:extLst>
          </p:cNvPr>
          <p:cNvSpPr>
            <a:spLocks noGrp="1"/>
          </p:cNvSpPr>
          <p:nvPr>
            <p:ph sz="quarter" idx="16"/>
          </p:nvPr>
        </p:nvSpPr>
        <p:spPr>
          <a:xfrm>
            <a:off x="838199" y="1258528"/>
            <a:ext cx="10515599" cy="5097821"/>
          </a:xfrm>
        </p:spPr>
        <p:txBody>
          <a:bodyPr>
            <a:normAutofit fontScale="70000" lnSpcReduction="20000"/>
          </a:bodyPr>
          <a:lstStyle/>
          <a:p>
            <a:pPr>
              <a:lnSpc>
                <a:spcPct val="120000"/>
              </a:lnSpc>
            </a:pPr>
            <a:r>
              <a:rPr lang="en-US" sz="2600" dirty="0">
                <a:latin typeface="Times New Roman" panose="02020603050405020304" pitchFamily="18" charset="0"/>
                <a:cs typeface="Times New Roman" panose="02020603050405020304" pitchFamily="18" charset="0"/>
              </a:rPr>
              <a:t>[1] N. Zafar, I. U. Haq, H. Sohail, J.-U.-R. Chughtai, and M. Muneeb, “Traffic Prediction in Smart Cities Based on Hybrid Feature Space,” </a:t>
            </a:r>
            <a:r>
              <a:rPr lang="en-US" sz="2600" i="1" dirty="0">
                <a:latin typeface="Times New Roman" panose="02020603050405020304" pitchFamily="18" charset="0"/>
                <a:cs typeface="Times New Roman" panose="02020603050405020304" pitchFamily="18" charset="0"/>
              </a:rPr>
              <a:t>IEEE Access</a:t>
            </a:r>
            <a:r>
              <a:rPr lang="en-US" sz="2600" dirty="0">
                <a:latin typeface="Times New Roman" panose="02020603050405020304" pitchFamily="18" charset="0"/>
                <a:cs typeface="Times New Roman" panose="02020603050405020304" pitchFamily="18" charset="0"/>
              </a:rPr>
              <a:t>, vol. 10, pp. 134333–134347, Dec. 2022,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10.1109/ACCESS.2022.3231448.</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[2] J. Mena-</a:t>
            </a:r>
            <a:r>
              <a:rPr lang="en-US" sz="2600" dirty="0" err="1">
                <a:latin typeface="Times New Roman" panose="02020603050405020304" pitchFamily="18" charset="0"/>
                <a:cs typeface="Times New Roman" panose="02020603050405020304" pitchFamily="18" charset="0"/>
              </a:rPr>
              <a:t>Oreja</a:t>
            </a:r>
            <a:r>
              <a:rPr lang="en-US" sz="2600" dirty="0">
                <a:latin typeface="Times New Roman" panose="02020603050405020304" pitchFamily="18" charset="0"/>
                <a:cs typeface="Times New Roman" panose="02020603050405020304" pitchFamily="18" charset="0"/>
              </a:rPr>
              <a:t> and J. </a:t>
            </a:r>
            <a:r>
              <a:rPr lang="en-US" sz="2600" dirty="0" err="1">
                <a:latin typeface="Times New Roman" panose="02020603050405020304" pitchFamily="18" charset="0"/>
                <a:cs typeface="Times New Roman" panose="02020603050405020304" pitchFamily="18" charset="0"/>
              </a:rPr>
              <a:t>Gozalvez</a:t>
            </a:r>
            <a:r>
              <a:rPr lang="en-US" sz="2600" dirty="0">
                <a:latin typeface="Times New Roman" panose="02020603050405020304" pitchFamily="18" charset="0"/>
                <a:cs typeface="Times New Roman" panose="02020603050405020304" pitchFamily="18" charset="0"/>
              </a:rPr>
              <a:t>, “A Comprehensive Evaluation of Deep Learning-Based Techniques for Traffic Prediction,” </a:t>
            </a:r>
            <a:r>
              <a:rPr lang="en-US" sz="2600" i="1" dirty="0">
                <a:latin typeface="Times New Roman" panose="02020603050405020304" pitchFamily="18" charset="0"/>
                <a:cs typeface="Times New Roman" panose="02020603050405020304" pitchFamily="18" charset="0"/>
              </a:rPr>
              <a:t>IEEE Access</a:t>
            </a:r>
            <a:r>
              <a:rPr lang="en-US" sz="2600" dirty="0">
                <a:latin typeface="Times New Roman" panose="02020603050405020304" pitchFamily="18" charset="0"/>
                <a:cs typeface="Times New Roman" panose="02020603050405020304" pitchFamily="18" charset="0"/>
              </a:rPr>
              <a:t>, vol. 8, pp. 91188–91224, May 2020,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10.1109/ACCESS.2020.2994415.</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[3] S. P. S. Rathore, Y. </a:t>
            </a:r>
            <a:r>
              <a:rPr lang="en-US" sz="2600" dirty="0" err="1">
                <a:latin typeface="Times New Roman" panose="02020603050405020304" pitchFamily="18" charset="0"/>
                <a:cs typeface="Times New Roman" panose="02020603050405020304" pitchFamily="18" charset="0"/>
              </a:rPr>
              <a:t>Farhaoui</a:t>
            </a:r>
            <a:r>
              <a:rPr lang="en-US" sz="2600" dirty="0">
                <a:latin typeface="Times New Roman" panose="02020603050405020304" pitchFamily="18" charset="0"/>
                <a:cs typeface="Times New Roman" panose="02020603050405020304" pitchFamily="18" charset="0"/>
              </a:rPr>
              <a:t>, T. Nagpal, T. M., E. E. </a:t>
            </a:r>
            <a:r>
              <a:rPr lang="en-US" sz="2600" dirty="0" err="1">
                <a:latin typeface="Times New Roman" panose="02020603050405020304" pitchFamily="18" charset="0"/>
                <a:cs typeface="Times New Roman" panose="02020603050405020304" pitchFamily="18" charset="0"/>
              </a:rPr>
              <a:t>Aniebonam</a:t>
            </a:r>
            <a:r>
              <a:rPr lang="en-US" sz="2600" dirty="0">
                <a:latin typeface="Times New Roman" panose="02020603050405020304" pitchFamily="18" charset="0"/>
                <a:cs typeface="Times New Roman" panose="02020603050405020304" pitchFamily="18" charset="0"/>
              </a:rPr>
              <a:t>, and P. Kaushik, “AI-Driven Traffic Congestion Management: A Predictive Analytics Approach for Smart Cities,” in </a:t>
            </a:r>
            <a:r>
              <a:rPr lang="en-US" sz="2600" i="1" dirty="0">
                <a:latin typeface="Times New Roman" panose="02020603050405020304" pitchFamily="18" charset="0"/>
                <a:cs typeface="Times New Roman" panose="02020603050405020304" pitchFamily="18" charset="0"/>
              </a:rPr>
              <a:t>Proc. IEEE Int. Conf. Interdisciplinary Approaches in Technology and Management for Social Innovation (IATMSI)</a:t>
            </a:r>
            <a:r>
              <a:rPr lang="en-US" sz="2600" dirty="0">
                <a:latin typeface="Times New Roman" panose="02020603050405020304" pitchFamily="18" charset="0"/>
                <a:cs typeface="Times New Roman" panose="02020603050405020304" pitchFamily="18" charset="0"/>
              </a:rPr>
              <a:t>, 2025,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10.1109/IATMSI64286.2025.10985513.</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[4] M. D. Malathi, F. </a:t>
            </a:r>
            <a:r>
              <a:rPr lang="en-US" sz="2600" dirty="0" err="1">
                <a:latin typeface="Times New Roman" panose="02020603050405020304" pitchFamily="18" charset="0"/>
                <a:cs typeface="Times New Roman" panose="02020603050405020304" pitchFamily="18" charset="0"/>
              </a:rPr>
              <a:t>Alaswad</a:t>
            </a:r>
            <a:r>
              <a:rPr lang="en-US" sz="2600" dirty="0">
                <a:latin typeface="Times New Roman" panose="02020603050405020304" pitchFamily="18" charset="0"/>
                <a:cs typeface="Times New Roman" panose="02020603050405020304" pitchFamily="18" charset="0"/>
              </a:rPr>
              <a:t>, B. </a:t>
            </a:r>
            <a:r>
              <a:rPr lang="en-US" sz="2600" dirty="0" err="1">
                <a:latin typeface="Times New Roman" panose="02020603050405020304" pitchFamily="18" charset="0"/>
                <a:cs typeface="Times New Roman" panose="02020603050405020304" pitchFamily="18" charset="0"/>
              </a:rPr>
              <a:t>Aljaddouh</a:t>
            </a:r>
            <a:r>
              <a:rPr lang="en-US" sz="2600" dirty="0">
                <a:latin typeface="Times New Roman" panose="02020603050405020304" pitchFamily="18" charset="0"/>
                <a:cs typeface="Times New Roman" panose="02020603050405020304" pitchFamily="18" charset="0"/>
              </a:rPr>
              <a:t>, L. </a:t>
            </a:r>
            <a:r>
              <a:rPr lang="en-US" sz="2600" dirty="0" err="1">
                <a:latin typeface="Times New Roman" panose="02020603050405020304" pitchFamily="18" charset="0"/>
                <a:cs typeface="Times New Roman" panose="02020603050405020304" pitchFamily="18" charset="0"/>
              </a:rPr>
              <a:t>Ranganayagi</a:t>
            </a:r>
            <a:r>
              <a:rPr lang="en-US" sz="2600" dirty="0">
                <a:latin typeface="Times New Roman" panose="02020603050405020304" pitchFamily="18" charset="0"/>
                <a:cs typeface="Times New Roman" panose="02020603050405020304" pitchFamily="18" charset="0"/>
              </a:rPr>
              <a:t>, and S. R. Sangeetha, “AI-Powered Traffic Management: Improving Congestion Detection and Signal Regulation,” in </a:t>
            </a:r>
            <a:r>
              <a:rPr lang="en-US" sz="2600" i="1" dirty="0">
                <a:latin typeface="Times New Roman" panose="02020603050405020304" pitchFamily="18" charset="0"/>
                <a:cs typeface="Times New Roman" panose="02020603050405020304" pitchFamily="18" charset="0"/>
              </a:rPr>
              <a:t>Proc. Int. Conf. Multi-Agent Systems for Collaborative Intelligence (ICMSCI)</a:t>
            </a:r>
            <a:r>
              <a:rPr lang="en-US" sz="2600" dirty="0">
                <a:latin typeface="Times New Roman" panose="02020603050405020304" pitchFamily="18" charset="0"/>
                <a:cs typeface="Times New Roman" panose="02020603050405020304" pitchFamily="18" charset="0"/>
              </a:rPr>
              <a:t>, 2025, pp. 899–904,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10.1109/ICMSCI62561.2025.10894186.</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[5] H. Yi and K.-H. N. Bui, “An Automated Hyperparameter Search-Based Deep Learning Model for Highway Traffic Prediction,” </a:t>
            </a:r>
            <a:r>
              <a:rPr lang="en-US" sz="2600" i="1" dirty="0">
                <a:latin typeface="Times New Roman" panose="02020603050405020304" pitchFamily="18" charset="0"/>
                <a:cs typeface="Times New Roman" panose="02020603050405020304" pitchFamily="18" charset="0"/>
              </a:rPr>
              <a:t>IEEE Trans. </a:t>
            </a:r>
            <a:r>
              <a:rPr lang="en-US" sz="2600" i="1" dirty="0" err="1">
                <a:latin typeface="Times New Roman" panose="02020603050405020304" pitchFamily="18" charset="0"/>
                <a:cs typeface="Times New Roman" panose="02020603050405020304" pitchFamily="18" charset="0"/>
              </a:rPr>
              <a:t>Intell</a:t>
            </a:r>
            <a:r>
              <a:rPr lang="en-US" sz="2600" i="1" dirty="0">
                <a:latin typeface="Times New Roman" panose="02020603050405020304" pitchFamily="18" charset="0"/>
                <a:cs typeface="Times New Roman" panose="02020603050405020304" pitchFamily="18" charset="0"/>
              </a:rPr>
              <a:t>. Transp. Syst.</a:t>
            </a:r>
            <a:r>
              <a:rPr lang="en-US" sz="2600" dirty="0">
                <a:latin typeface="Times New Roman" panose="02020603050405020304" pitchFamily="18" charset="0"/>
                <a:cs typeface="Times New Roman" panose="02020603050405020304" pitchFamily="18" charset="0"/>
              </a:rPr>
              <a:t>, vol. 22, no. 9, pp. 5486–5495, Sep. 2021,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10.1109/TITS.2020.2987614.</a:t>
            </a:r>
            <a:endParaRPr lang="en-IN" sz="2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52077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006215" y="2951544"/>
            <a:ext cx="4179570" cy="628765"/>
          </a:xfrm>
        </p:spPr>
        <p:txBody>
          <a:bodyPr/>
          <a:lstStyle/>
          <a:p>
            <a:r>
              <a:rPr lang="en-US" sz="4000" dirty="0">
                <a:latin typeface="Times New Roman" panose="02020603050405020304" pitchFamily="18" charset="0"/>
                <a:cs typeface="Times New Roman" panose="02020603050405020304" pitchFamily="18" charset="0"/>
              </a:rPr>
              <a:t>THANK YOU</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493</TotalTime>
  <Words>1424</Words>
  <Application>Microsoft Office PowerPoint</Application>
  <PresentationFormat>Widescreen</PresentationFormat>
  <Paragraphs>137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Tenorite</vt:lpstr>
      <vt:lpstr>Times New Roman</vt:lpstr>
      <vt:lpstr>Wingdings</vt:lpstr>
      <vt:lpstr>Monoline</vt:lpstr>
      <vt:lpstr>PowerPoint Presentation</vt:lpstr>
      <vt:lpstr>Agenda</vt:lpstr>
      <vt:lpstr>Introduction  Smart cities aim to enhance the quality of life by integrating advanced technologies into urban infrastructure. Among the many challenges faced in this domain, traffic congestion remains a primary concern. Rapid urbanization and increasing vehicular load strain existing road networks, leading to extended travel times, environmental degradation, and economic loss. Traditional prediction models often fall short due to their limited scope and inability to incorporate diverse data types. To address this, our project introduces a novel predictive framework that utilizes data from various sources including GPS devices, weather APIs, and mapping services processed through a hybrid deep learning approach. This method enables accurate and timely forecasting of traffic congestion, contributing to more efficient urban mobility solutions.</vt:lpstr>
      <vt:lpstr>PowerPoint Presentation</vt:lpstr>
      <vt:lpstr>AIM  To develop a robust, scalable, and intelligent traffic forecasting system capable of integrating and processing data from multiple heterogeneous sources, effectively addressing the spatial-temporal complexities of urban transport networks.   The system should leverage advanced machine learning techniques and real-time data analytics to enhance the accuracy of traffic predictions, optimize vehicular flow, minimize congestion-related delays, and improve overall urban mobility and resource efficiency. </vt:lpstr>
      <vt:lpstr>LITERATURE SURVEY</vt:lpstr>
      <vt:lpstr>PowerPoint Presentation</vt:lpstr>
      <vt:lpstr>PROPOSED MODEL</vt:lpstr>
      <vt:lpstr> System Analysis and Design </vt:lpstr>
      <vt:lpstr>Implementation and Testing</vt:lpstr>
      <vt:lpstr>Results and Discussion</vt:lpstr>
      <vt:lpstr>Conclusion and Future Scope </vt:lpstr>
      <vt:lpstr>REFERENCE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daylord777@outlook.com</dc:creator>
  <cp:lastModifiedBy>Sudarshan gowda</cp:lastModifiedBy>
  <cp:revision>10</cp:revision>
  <dcterms:created xsi:type="dcterms:W3CDTF">2025-05-29T11:43:28Z</dcterms:created>
  <dcterms:modified xsi:type="dcterms:W3CDTF">2026-01-08T03:19:59Z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